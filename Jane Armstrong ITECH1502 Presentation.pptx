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81" r:id="rId7"/>
    <p:sldId id="258" r:id="rId8"/>
    <p:sldId id="265" r:id="rId9"/>
    <p:sldId id="266" r:id="rId10"/>
    <p:sldId id="267" r:id="rId11"/>
    <p:sldId id="268" r:id="rId12"/>
    <p:sldId id="269" r:id="rId13"/>
    <p:sldId id="282" r:id="rId14"/>
    <p:sldId id="283" r:id="rId15"/>
    <p:sldId id="284" r:id="rId16"/>
    <p:sldId id="274" r:id="rId17"/>
    <p:sldId id="270" r:id="rId18"/>
    <p:sldId id="275" r:id="rId19"/>
    <p:sldId id="277" r:id="rId20"/>
    <p:sldId id="278" r:id="rId21"/>
    <p:sldId id="272" r:id="rId22"/>
    <p:sldId id="279" r:id="rId23"/>
    <p:sldId id="280" r:id="rId24"/>
    <p:sldId id="276" r:id="rId25"/>
    <p:sldId id="261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" dt="2026-10-16T03:46:30.096"/>
    <p1510:client id="{5CFF4816-318A-BC25-EDCC-B023FF5708FA}" v="1" dt="2026-10-18T03:35:58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9" y="-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 Armstrong" userId="S::janearmstrong@students.federation.edu.au::427cce83-1d1d-417c-9ac8-b340c959a9e2" providerId="AD" clId="Web-{5CFF4816-318A-BC25-EDCC-B023FF5708FA}"/>
    <pc:docChg chg="modSld">
      <pc:chgData name="Jane Armstrong" userId="S::janearmstrong@students.federation.edu.au::427cce83-1d1d-417c-9ac8-b340c959a9e2" providerId="AD" clId="Web-{5CFF4816-318A-BC25-EDCC-B023FF5708FA}" dt="2026-10-18T03:35:58.466" v="0"/>
      <pc:docMkLst>
        <pc:docMk/>
      </pc:docMkLst>
      <pc:sldChg chg="addSp">
        <pc:chgData name="Jane Armstrong" userId="S::janearmstrong@students.federation.edu.au::427cce83-1d1d-417c-9ac8-b340c959a9e2" providerId="AD" clId="Web-{5CFF4816-318A-BC25-EDCC-B023FF5708FA}" dt="2026-10-18T03:35:58.466" v="0"/>
        <pc:sldMkLst>
          <pc:docMk/>
          <pc:sldMk cId="0" sldId="262"/>
        </pc:sldMkLst>
        <pc:spChg chg="add">
          <ac:chgData name="Jane Armstrong" userId="S::janearmstrong@students.federation.edu.au::427cce83-1d1d-417c-9ac8-b340c959a9e2" providerId="AD" clId="Web-{5CFF4816-318A-BC25-EDCC-B023FF5708FA}" dt="2026-10-18T03:35:58.466" v="0"/>
          <ac:spMkLst>
            <pc:docMk/>
            <pc:sldMk cId="0" sldId="262"/>
            <ac:spMk id="6" creationId="{F17488ED-5B72-9B03-F136-AD77D8AA0439}"/>
          </ac:spMkLst>
        </pc:spChg>
      </pc:sldChg>
    </pc:docChg>
  </pc:docChgLst>
  <pc:docChgLst>
    <pc:chgData name="Jane Armstrong" userId="S::janearmstrong@students.federation.edu.au::427cce83-1d1d-417c-9ac8-b340c959a9e2" providerId="AD" clId="Web-{00000000-0000-0000-0000-000000000000}"/>
    <pc:docChg chg="modSld">
      <pc:chgData name="Jane Armstrong" userId="S::janearmstrong@students.federation.edu.au::427cce83-1d1d-417c-9ac8-b340c959a9e2" providerId="AD" clId="Web-{00000000-0000-0000-0000-000000000000}" dt="2026-10-16T03:46:30.096" v="24"/>
      <pc:docMkLst>
        <pc:docMk/>
      </pc:docMkLst>
      <pc:sldChg chg="delSp">
        <pc:chgData name="Jane Armstrong" userId="S::janearmstrong@students.federation.edu.au::427cce83-1d1d-417c-9ac8-b340c959a9e2" providerId="AD" clId="Web-{00000000-0000-0000-0000-000000000000}" dt="2026-10-16T03:45:07.624" v="0"/>
        <pc:sldMkLst>
          <pc:docMk/>
          <pc:sldMk cId="0" sldId="256"/>
        </pc:sldMkLst>
      </pc:sldChg>
      <pc:sldChg chg="delSp modSp">
        <pc:chgData name="Jane Armstrong" userId="S::janearmstrong@students.federation.edu.au::427cce83-1d1d-417c-9ac8-b340c959a9e2" providerId="AD" clId="Web-{00000000-0000-0000-0000-000000000000}" dt="2026-10-16T03:45:11.296" v="2"/>
        <pc:sldMkLst>
          <pc:docMk/>
          <pc:sldMk cId="0" sldId="257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19.265" v="5"/>
        <pc:sldMkLst>
          <pc:docMk/>
          <pc:sldMk cId="0" sldId="258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6:17.127" v="20"/>
        <pc:sldMkLst>
          <pc:docMk/>
          <pc:sldMk cId="0" sldId="261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6:14.501" v="19"/>
        <pc:sldMkLst>
          <pc:docMk/>
          <pc:sldMk cId="0" sldId="262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23.062" v="6"/>
        <pc:sldMkLst>
          <pc:docMk/>
          <pc:sldMk cId="0" sldId="265"/>
        </pc:sldMkLst>
      </pc:sldChg>
      <pc:sldChg chg="delSp modSp">
        <pc:chgData name="Jane Armstrong" userId="S::janearmstrong@students.federation.edu.au::427cce83-1d1d-417c-9ac8-b340c959a9e2" providerId="AD" clId="Web-{00000000-0000-0000-0000-000000000000}" dt="2026-10-16T03:45:31.062" v="8"/>
        <pc:sldMkLst>
          <pc:docMk/>
          <pc:sldMk cId="0" sldId="266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34.627" v="9"/>
        <pc:sldMkLst>
          <pc:docMk/>
          <pc:sldMk cId="0" sldId="267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37.531" v="10"/>
        <pc:sldMkLst>
          <pc:docMk/>
          <pc:sldMk cId="0" sldId="268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41.547" v="11"/>
        <pc:sldMkLst>
          <pc:docMk/>
          <pc:sldMk cId="0" sldId="269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50.344" v="13"/>
        <pc:sldMkLst>
          <pc:docMk/>
          <pc:sldMk cId="0" sldId="270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59.298" v="15"/>
        <pc:sldMkLst>
          <pc:docMk/>
          <pc:sldMk cId="0" sldId="272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47.813" v="12"/>
        <pc:sldMkLst>
          <pc:docMk/>
          <pc:sldMk cId="1726210355" sldId="274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6:09.236" v="18"/>
        <pc:sldMkLst>
          <pc:docMk/>
          <pc:sldMk cId="0" sldId="276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5:56.485" v="14"/>
        <pc:sldMkLst>
          <pc:docMk/>
          <pc:sldMk cId="0" sldId="278"/>
        </pc:sldMkLst>
      </pc:sldChg>
      <pc:sldChg chg="delSp">
        <pc:chgData name="Jane Armstrong" userId="S::janearmstrong@students.federation.edu.au::427cce83-1d1d-417c-9ac8-b340c959a9e2" providerId="AD" clId="Web-{00000000-0000-0000-0000-000000000000}" dt="2026-10-16T03:46:30.096" v="24"/>
        <pc:sldMkLst>
          <pc:docMk/>
          <pc:sldMk cId="0" sldId="279"/>
        </pc:sldMkLst>
      </pc:sldChg>
      <pc:sldChg chg="delSp modSp">
        <pc:chgData name="Jane Armstrong" userId="S::janearmstrong@students.federation.edu.au::427cce83-1d1d-417c-9ac8-b340c959a9e2" providerId="AD" clId="Web-{00000000-0000-0000-0000-000000000000}" dt="2026-10-16T03:46:27.236" v="23"/>
        <pc:sldMkLst>
          <pc:docMk/>
          <pc:sldMk cId="0" sldId="280"/>
        </pc:sldMkLst>
        <pc:picChg chg="mod">
          <ac:chgData name="Jane Armstrong" userId="S::janearmstrong@students.federation.edu.au::427cce83-1d1d-417c-9ac8-b340c959a9e2" providerId="AD" clId="Web-{00000000-0000-0000-0000-000000000000}" dt="2026-10-16T03:46:26.143" v="22" actId="1076"/>
          <ac:picMkLst>
            <pc:docMk/>
            <pc:sldMk cId="0" sldId="280"/>
            <ac:picMk id="9" creationId="{E188BE22-D63F-9F1C-450A-E480278D3A6B}"/>
          </ac:picMkLst>
        </pc:picChg>
      </pc:sldChg>
      <pc:sldChg chg="delSp">
        <pc:chgData name="Jane Armstrong" userId="S::janearmstrong@students.federation.edu.au::427cce83-1d1d-417c-9ac8-b340c959a9e2" providerId="AD" clId="Web-{00000000-0000-0000-0000-000000000000}" dt="2026-10-16T03:45:16.390" v="4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75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Introduce yourself and explain that this presentation covers a practical vulnerability-scanning exercise. Replace all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scanning matters and state the exact platform, room and scope you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530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your real process in order. Mention only commands and tools you actually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genuine reflection: what you learned, a challenge you faced, how you handled it, and what you would do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the main lesson and show your portfolio link. Keep within the required presentation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822960"/>
            <a:ext cx="2560320" cy="164592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35440" y="1143000"/>
            <a:ext cx="1920240" cy="164592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1463040"/>
            <a:ext cx="3200400" cy="164592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680960" cy="101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Cybersecurity Portfolio</a:t>
            </a:r>
          </a:p>
          <a:p>
            <a:pPr>
              <a:spcAft>
                <a:spcPts val="500"/>
              </a:spcAft>
            </a:pPr>
            <a:r>
              <a:rPr dirty="0">
                <a:solidFill>
                  <a:schemeClr val="bg1"/>
                </a:solidFill>
              </a:rPr>
              <a:t>Vulnerability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772400" cy="74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ITECH1502 Cybersecurity Fundamentals</a:t>
            </a:r>
          </a:p>
          <a:p>
            <a:pPr>
              <a:spcAft>
                <a:spcPts val="500"/>
              </a:spcAft>
            </a:pPr>
            <a:r>
              <a:rPr lang="en-US" dirty="0">
                <a:solidFill>
                  <a:schemeClr val="bg1"/>
                </a:solidFill>
              </a:rPr>
              <a:t>Jane Armstrong </a:t>
            </a:r>
            <a:r>
              <a:rPr dirty="0">
                <a:solidFill>
                  <a:schemeClr val="bg1"/>
                </a:solidFill>
              </a:rPr>
              <a:t>•  </a:t>
            </a:r>
            <a:r>
              <a:rPr lang="en-US" dirty="0">
                <a:solidFill>
                  <a:schemeClr val="bg1"/>
                </a:solidFill>
              </a:rPr>
              <a:t>Student ID: 30155016 </a:t>
            </a:r>
            <a:r>
              <a:rPr dirty="0">
                <a:solidFill>
                  <a:schemeClr val="bg1"/>
                </a:solidFill>
              </a:rPr>
              <a:t>•  15 October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2971800" cy="1828800"/>
          </a:xfrm>
          <a:prstGeom prst="roundRect">
            <a:avLst/>
          </a:prstGeom>
          <a:solidFill>
            <a:srgbClr val="233550"/>
          </a:solidFill>
          <a:ln w="19050">
            <a:solidFill>
              <a:srgbClr val="1F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TryHackMe</a:t>
            </a:r>
          </a:p>
          <a:p>
            <a:pPr>
              <a:spcAft>
                <a:spcPts val="500"/>
              </a:spcAft>
            </a:pPr>
            <a:r>
              <a:t>Vulnerability Scanning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919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3233D"/>
                </a:solidFill>
                <a:latin typeface="Aptos Display"/>
              </a:defRPr>
            </a:pPr>
            <a:r>
              <a:t>Why vulnerability scanning?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F6B79"/>
                </a:solidFill>
                <a:latin typeface="Aptos"/>
              </a:defRPr>
            </a:pPr>
            <a:r>
              <a:t>TryHackMe practical exercise: Vulnerability Scanning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520440" cy="308782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" cy="20574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310896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Explore how scanning identifies live hosts, exposed services and potential security weaknesses.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59"/>
            <a:ext cx="3642362" cy="3087821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82296" cy="205740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42032"/>
            <a:ext cx="310896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 dirty="0"/>
              <a:t>• Practi</a:t>
            </a:r>
            <a:r>
              <a:rPr lang="en-US" dirty="0"/>
              <a:t>c</a:t>
            </a:r>
            <a:r>
              <a:rPr dirty="0"/>
              <a:t>e host discovery with Nmap</a:t>
            </a:r>
          </a:p>
          <a:p>
            <a:pPr>
              <a:spcAft>
                <a:spcPts val="500"/>
              </a:spcAft>
            </a:pPr>
            <a:r>
              <a:rPr dirty="0"/>
              <a:t>• Identify ports and service versions</a:t>
            </a:r>
          </a:p>
          <a:p>
            <a:pPr>
              <a:spcAft>
                <a:spcPts val="500"/>
              </a:spcAft>
            </a:pPr>
            <a:r>
              <a:rPr dirty="0"/>
              <a:t>• Explore web checks with </a:t>
            </a:r>
            <a:r>
              <a:rPr dirty="0" err="1"/>
              <a:t>Nikto</a:t>
            </a:r>
            <a:endParaRPr dirty="0"/>
          </a:p>
          <a:p>
            <a:pPr>
              <a:spcAft>
                <a:spcPts val="500"/>
              </a:spcAft>
            </a:pPr>
            <a:r>
              <a:rPr dirty="0"/>
              <a:t>• Understand OpenVAS reporting and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65960"/>
            <a:ext cx="3566160" cy="308782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965960"/>
            <a:ext cx="82296" cy="2057400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305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42032"/>
            <a:ext cx="3108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Poorly </a:t>
            </a:r>
            <a:r>
              <a:rPr dirty="0"/>
              <a:t>secured services can increase attack surface. A scan is</a:t>
            </a:r>
            <a:r>
              <a:rPr lang="en-US" dirty="0"/>
              <a:t> a first step in identifying potential weaknesses. It is n</a:t>
            </a:r>
            <a:r>
              <a:rPr dirty="0"/>
              <a:t>ot proof that a system is vulnerable.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70932"/>
            <a:ext cx="10515600" cy="661207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Training environment: </a:t>
            </a:r>
            <a:r>
              <a:rPr dirty="0" err="1"/>
              <a:t>TryHackM</a:t>
            </a:r>
            <a:r>
              <a:rPr lang="en-US" dirty="0" err="1"/>
              <a:t>e</a:t>
            </a:r>
            <a:r>
              <a:rPr lang="en-US" dirty="0"/>
              <a:t> virtual machine</a:t>
            </a:r>
          </a:p>
          <a:p>
            <a:pPr>
              <a:spcAft>
                <a:spcPts val="5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Scope: lab target assigned by </a:t>
            </a:r>
            <a:r>
              <a:rPr dirty="0" err="1"/>
              <a:t>TryHackMe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5B6C"/>
                </a:solidFill>
                <a:latin typeface="Aptos"/>
              </a:rPr>
              <a:t>REFERENCE •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33550"/>
                </a:solidFill>
                <a:latin typeface="Aptos"/>
              </a:rPr>
              <a:t>Core terminology and scanner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30759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38E36"/>
                </a:solidFill>
                <a:latin typeface="Aptos"/>
              </a:rPr>
              <a:t>CORE TERMINOLOGY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81912"/>
            <a:ext cx="2212848" cy="1307592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9768" y="1691640"/>
            <a:ext cx="50292" cy="1088136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1673352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5B6C"/>
                </a:solidFill>
                <a:latin typeface="Aptos"/>
              </a:rPr>
              <a:t>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965960"/>
            <a:ext cx="1984248" cy="8595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233550"/>
                </a:solidFill>
                <a:latin typeface="Aptos"/>
              </a:rPr>
              <a:t>A weakness that could be exploited to bypass security or gain unauthorised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1581912"/>
            <a:ext cx="2212848" cy="1307592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52344" y="1691640"/>
            <a:ext cx="50292" cy="1088136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2" y="1673352"/>
            <a:ext cx="1984248" cy="54938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dirty="0">
                <a:solidFill>
                  <a:srgbClr val="1D5B6C"/>
                </a:solidFill>
                <a:latin typeface="Aptos"/>
              </a:rPr>
              <a:t>CVE</a:t>
            </a:r>
            <a:r>
              <a:rPr lang="en-US" sz="1150" b="1" dirty="0">
                <a:solidFill>
                  <a:srgbClr val="1D5B6C"/>
                </a:solidFill>
                <a:latin typeface="Aptos"/>
              </a:rPr>
              <a:t> (Common </a:t>
            </a:r>
            <a:r>
              <a:rPr lang="en-US" sz="1150" b="1" dirty="0" err="1">
                <a:solidFill>
                  <a:srgbClr val="1D5B6C"/>
                </a:solidFill>
                <a:latin typeface="Aptos"/>
              </a:rPr>
              <a:t>Vulnarabilities</a:t>
            </a:r>
            <a:r>
              <a:rPr lang="en-US" sz="1150" b="1" dirty="0">
                <a:solidFill>
                  <a:srgbClr val="1D5B6C"/>
                </a:solidFill>
                <a:latin typeface="Aptos"/>
              </a:rPr>
              <a:t> and Exposures)</a:t>
            </a:r>
            <a:endParaRPr sz="1150" b="1" dirty="0">
              <a:solidFill>
                <a:srgbClr val="1D5B6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9504" y="2231136"/>
            <a:ext cx="1984248" cy="8595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dirty="0">
                <a:solidFill>
                  <a:srgbClr val="233550"/>
                </a:solidFill>
                <a:latin typeface="Aptos"/>
              </a:rPr>
              <a:t>A unique ID for a publicly known vulnerability, making it easier to track and research.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1581912"/>
            <a:ext cx="2212848" cy="1307592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1691640"/>
            <a:ext cx="50292" cy="1088136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4648" y="1673352"/>
            <a:ext cx="1984248" cy="37241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dirty="0">
                <a:solidFill>
                  <a:srgbClr val="E38E36"/>
                </a:solidFill>
                <a:latin typeface="Aptos"/>
              </a:rPr>
              <a:t>CVSS</a:t>
            </a:r>
            <a:r>
              <a:rPr lang="en-US" sz="1150" b="1" dirty="0">
                <a:solidFill>
                  <a:srgbClr val="E38E36"/>
                </a:solidFill>
                <a:latin typeface="Aptos"/>
              </a:rPr>
              <a:t> (Common </a:t>
            </a:r>
            <a:r>
              <a:rPr lang="en-US" sz="1150" b="1" dirty="0" err="1">
                <a:solidFill>
                  <a:srgbClr val="E38E36"/>
                </a:solidFill>
                <a:latin typeface="Aptos"/>
              </a:rPr>
              <a:t>Vulnarability</a:t>
            </a:r>
            <a:r>
              <a:rPr lang="en-US" sz="1150" b="1" dirty="0">
                <a:solidFill>
                  <a:srgbClr val="E38E36"/>
                </a:solidFill>
                <a:latin typeface="Aptos"/>
              </a:rPr>
              <a:t> Scoring System)</a:t>
            </a:r>
            <a:endParaRPr sz="1150" b="1" dirty="0">
              <a:solidFill>
                <a:srgbClr val="E38E3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84648" y="2045762"/>
            <a:ext cx="1984248" cy="4524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dirty="0">
                <a:solidFill>
                  <a:srgbClr val="233550"/>
                </a:solidFill>
                <a:latin typeface="Aptos"/>
              </a:rPr>
              <a:t>A standard severity score from 0–10</a:t>
            </a:r>
            <a:r>
              <a:rPr lang="en-US" sz="940" b="0" dirty="0">
                <a:solidFill>
                  <a:srgbClr val="233550"/>
                </a:solidFill>
                <a:latin typeface="Aptos"/>
              </a:rPr>
              <a:t>,</a:t>
            </a:r>
            <a:r>
              <a:rPr sz="940" b="0" dirty="0">
                <a:solidFill>
                  <a:srgbClr val="233550"/>
                </a:solidFill>
                <a:latin typeface="Aptos"/>
              </a:rPr>
              <a:t> higher scores generally need more urgent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581912"/>
            <a:ext cx="2212848" cy="1307592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97496" y="1691640"/>
            <a:ext cx="50292" cy="1088136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7224" y="1673352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5B6C"/>
                </a:solidFill>
                <a:latin typeface="Aptos"/>
              </a:rPr>
              <a:t>Misconfiguration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1965960"/>
            <a:ext cx="1984248" cy="597087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40" b="0" dirty="0">
                <a:solidFill>
                  <a:srgbClr val="233550"/>
                </a:solidFill>
                <a:latin typeface="Aptos"/>
              </a:rPr>
              <a:t>Incorrect set up which causes security weaknesses</a:t>
            </a:r>
            <a:r>
              <a:rPr sz="940" b="0" dirty="0">
                <a:solidFill>
                  <a:srgbClr val="233550"/>
                </a:solidFill>
                <a:latin typeface="Aptos"/>
              </a:rPr>
              <a:t>, such as excessive permissions</a:t>
            </a:r>
            <a:r>
              <a:rPr lang="en-US" sz="940" b="0" dirty="0">
                <a:solidFill>
                  <a:srgbClr val="233550"/>
                </a:solidFill>
                <a:latin typeface="Aptos"/>
              </a:rPr>
              <a:t>, weak passwords,</a:t>
            </a:r>
            <a:r>
              <a:rPr sz="940" b="0" dirty="0">
                <a:solidFill>
                  <a:srgbClr val="233550"/>
                </a:solidFill>
                <a:latin typeface="Aptos"/>
              </a:rPr>
              <a:t> unsafe default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1581912"/>
            <a:ext cx="2212848" cy="1307592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20072" y="1691640"/>
            <a:ext cx="50292" cy="1088136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673352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5B6C"/>
                </a:solidFill>
                <a:latin typeface="Aptos"/>
              </a:rPr>
              <a:t>Software 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965960"/>
            <a:ext cx="1984248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dirty="0">
                <a:solidFill>
                  <a:srgbClr val="233550"/>
                </a:solidFill>
                <a:latin typeface="Aptos"/>
              </a:rPr>
              <a:t>A flaw in application code or logic that can cause unintended or </a:t>
            </a:r>
            <a:r>
              <a:rPr lang="en-US" sz="940" b="0" dirty="0">
                <a:solidFill>
                  <a:srgbClr val="233550"/>
                </a:solidFill>
                <a:latin typeface="Aptos"/>
              </a:rPr>
              <a:t>exploitation.</a:t>
            </a:r>
            <a:endParaRPr sz="940" b="0" dirty="0">
              <a:solidFill>
                <a:srgbClr val="23355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9768" y="3090672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38E36"/>
                </a:solidFill>
                <a:latin typeface="Aptos"/>
              </a:rPr>
              <a:t>TYPES OF VULNERABILITY 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364992"/>
            <a:ext cx="2331720" cy="1325880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8" y="3474720"/>
            <a:ext cx="50292" cy="1106424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" y="34564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5B6C"/>
                </a:solidFill>
                <a:latin typeface="Aptos"/>
              </a:rPr>
              <a:t>Network scanner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" y="3749040"/>
            <a:ext cx="2103120" cy="3139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dirty="0">
                <a:solidFill>
                  <a:srgbClr val="233550"/>
                </a:solidFill>
                <a:latin typeface="Aptos"/>
              </a:rPr>
              <a:t>Finds </a:t>
            </a:r>
            <a:r>
              <a:rPr lang="en-US" sz="960" dirty="0">
                <a:solidFill>
                  <a:srgbClr val="233550"/>
                </a:solidFill>
                <a:latin typeface="Aptos"/>
              </a:rPr>
              <a:t>devices and identifies open ports and exposure points on a network</a:t>
            </a:r>
            <a:endParaRPr sz="960" b="0" dirty="0">
              <a:solidFill>
                <a:srgbClr val="23355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871216" y="3364992"/>
            <a:ext cx="2331720" cy="1325880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889504" y="3474720"/>
            <a:ext cx="50292" cy="1106424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99232" y="34564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38E36"/>
                </a:solidFill>
                <a:latin typeface="Aptos"/>
              </a:rPr>
              <a:t>Web application scanner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3749040"/>
            <a:ext cx="2103120" cy="8778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233550"/>
                </a:solidFill>
                <a:latin typeface="Aptos"/>
              </a:rPr>
              <a:t>Checks websites and HTTP/HTTPS services for risky behaviour, outdated components and weak configuration.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30952" y="3364992"/>
            <a:ext cx="2331720" cy="1325880"/>
          </a:xfrm>
          <a:prstGeom prst="roundRect">
            <a:avLst/>
          </a:prstGeom>
          <a:solidFill>
            <a:srgbClr val="F2F7F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49240" y="3474720"/>
            <a:ext cx="50292" cy="1106424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58968" y="34564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5B6C"/>
                </a:solidFill>
                <a:latin typeface="Aptos"/>
              </a:rPr>
              <a:t>Host-based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749040"/>
            <a:ext cx="2103120" cy="8778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233550"/>
                </a:solidFill>
                <a:latin typeface="Aptos"/>
              </a:rPr>
              <a:t>Examines a system internally for missing patches, outdated software and insecure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9191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3233D"/>
                </a:solidFill>
                <a:latin typeface="Aptos Display"/>
              </a:defRPr>
            </a:pPr>
            <a:r>
              <a:t>Methodology: how I approached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Completed workflow across Nmap, Nikto and the provided OpenVAS report</a:t>
            </a:r>
          </a:p>
        </p:txBody>
      </p:sp>
      <p:sp>
        <p:nvSpPr>
          <p:cNvPr id="6" name="Oval 5"/>
          <p:cNvSpPr/>
          <p:nvPr/>
        </p:nvSpPr>
        <p:spPr>
          <a:xfrm>
            <a:off x="1307592" y="2011680"/>
            <a:ext cx="566928" cy="566928"/>
          </a:xfrm>
          <a:prstGeom prst="ellipse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19"/>
            <a:ext cx="1874519" cy="3566633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82296" cy="20574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53512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14630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Logged in to </a:t>
            </a:r>
            <a:r>
              <a:rPr lang="en-US" dirty="0" err="1"/>
              <a:t>TryHackMe</a:t>
            </a:r>
            <a:r>
              <a:rPr lang="en-US" dirty="0"/>
              <a:t>. </a:t>
            </a:r>
            <a:r>
              <a:rPr dirty="0"/>
              <a:t>Read the room instructions and core terminology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S</a:t>
            </a:r>
            <a:r>
              <a:rPr dirty="0"/>
              <a:t>tarted the  </a:t>
            </a:r>
            <a:r>
              <a:rPr dirty="0" err="1"/>
              <a:t>TryHackMe</a:t>
            </a:r>
            <a:r>
              <a:rPr dirty="0"/>
              <a:t> </a:t>
            </a:r>
            <a:r>
              <a:rPr lang="en-US" dirty="0"/>
              <a:t>virtual machine</a:t>
            </a:r>
            <a:r>
              <a:rPr dirty="0"/>
              <a:t>.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0048" y="2176272"/>
            <a:ext cx="292608" cy="22860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1" y="2011680"/>
            <a:ext cx="566928" cy="566928"/>
          </a:xfrm>
          <a:prstGeom prst="ellipse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788919"/>
            <a:ext cx="1837943" cy="3566633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7520" y="2788920"/>
            <a:ext cx="82296" cy="205740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953512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Define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1"/>
            <a:ext cx="14630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Used the target IP </a:t>
            </a:r>
            <a:r>
              <a:rPr lang="en-US" dirty="0"/>
              <a:t>provided by </a:t>
            </a:r>
            <a:r>
              <a:rPr dirty="0" err="1"/>
              <a:t>TryHackMe</a:t>
            </a:r>
            <a:r>
              <a:rPr dirty="0"/>
              <a:t>. </a:t>
            </a:r>
            <a:r>
              <a:rPr lang="en-US" dirty="0"/>
              <a:t>I had to restart the VM halfway through the exercise, which gave a different IP address to the first one, so later exercises have a different IP</a:t>
            </a:r>
            <a:endParaRPr dirty="0"/>
          </a:p>
        </p:txBody>
      </p:sp>
      <p:sp>
        <p:nvSpPr>
          <p:cNvPr id="17" name="Chevron 16"/>
          <p:cNvSpPr/>
          <p:nvPr/>
        </p:nvSpPr>
        <p:spPr>
          <a:xfrm>
            <a:off x="4956048" y="2176272"/>
            <a:ext cx="292608" cy="22860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79592" y="2011680"/>
            <a:ext cx="566928" cy="566928"/>
          </a:xfrm>
          <a:prstGeom prst="ellipse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788919"/>
            <a:ext cx="1837943" cy="3566633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0" y="2788920"/>
            <a:ext cx="82296" cy="20574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2953512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64991"/>
            <a:ext cx="1463039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sz="1200" dirty="0"/>
              <a:t>Ran Nmap host discovery (-</a:t>
            </a:r>
            <a:r>
              <a:rPr sz="1200" dirty="0" err="1"/>
              <a:t>sn</a:t>
            </a:r>
            <a:r>
              <a:rPr sz="1200" dirty="0"/>
              <a:t>), </a:t>
            </a:r>
            <a:r>
              <a:rPr lang="en-US" sz="1200" dirty="0"/>
              <a:t>port  scan </a:t>
            </a:r>
            <a:r>
              <a:rPr sz="1200" dirty="0"/>
              <a:t>(-</a:t>
            </a:r>
            <a:r>
              <a:rPr sz="1200" dirty="0" err="1"/>
              <a:t>sV</a:t>
            </a:r>
            <a:r>
              <a:rPr sz="1200" dirty="0"/>
              <a:t>), and aggressive </a:t>
            </a:r>
            <a:r>
              <a:rPr lang="en-US" sz="1200" dirty="0"/>
              <a:t>scan</a:t>
            </a:r>
            <a:r>
              <a:rPr sz="1200" dirty="0"/>
              <a:t>(-A).</a:t>
            </a:r>
            <a:r>
              <a:rPr lang="en-US" sz="1200" dirty="0"/>
              <a:t> </a:t>
            </a:r>
          </a:p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sz="1200" dirty="0"/>
              <a:t>Used </a:t>
            </a:r>
            <a:r>
              <a:rPr lang="en-US" sz="1200" dirty="0" err="1"/>
              <a:t>Nikto</a:t>
            </a:r>
            <a:r>
              <a:rPr lang="en-US" sz="1200" dirty="0"/>
              <a:t> to check the HTTP service on port 8080</a:t>
            </a:r>
          </a:p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sz="1200" dirty="0"/>
              <a:t>Used OpenVAS to scan for vulnerabilities and weaknesses web application security issues</a:t>
            </a:r>
            <a:endParaRPr sz="1200" dirty="0"/>
          </a:p>
        </p:txBody>
      </p:sp>
      <p:sp>
        <p:nvSpPr>
          <p:cNvPr id="23" name="Chevron 22"/>
          <p:cNvSpPr/>
          <p:nvPr/>
        </p:nvSpPr>
        <p:spPr>
          <a:xfrm>
            <a:off x="7242048" y="2176272"/>
            <a:ext cx="292608" cy="22860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65592" y="2011680"/>
            <a:ext cx="566928" cy="566928"/>
          </a:xfrm>
          <a:prstGeom prst="ellipse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788919"/>
            <a:ext cx="1938528" cy="3566633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9520" y="2788920"/>
            <a:ext cx="82296" cy="205740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2953512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Interpret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364991"/>
            <a:ext cx="1463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Interpreted detected ports and services.</a:t>
            </a:r>
          </a:p>
        </p:txBody>
      </p:sp>
      <p:sp>
        <p:nvSpPr>
          <p:cNvPr id="29" name="Chevron 28"/>
          <p:cNvSpPr/>
          <p:nvPr/>
        </p:nvSpPr>
        <p:spPr>
          <a:xfrm>
            <a:off x="9528048" y="2176272"/>
            <a:ext cx="292608" cy="22860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51592" y="2011680"/>
            <a:ext cx="566928" cy="566928"/>
          </a:xfrm>
          <a:prstGeom prst="ellipse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2788919"/>
            <a:ext cx="1938528" cy="3566633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2788920"/>
            <a:ext cx="82296" cy="2057400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04120" y="2953512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364991"/>
            <a:ext cx="146303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/>
              <a:t>Saved scan evidence, reviewed the pre-scanned </a:t>
            </a:r>
            <a:r>
              <a:rPr sz="1400" dirty="0" err="1"/>
              <a:t>MyTarget</a:t>
            </a:r>
            <a:r>
              <a:rPr sz="1400" dirty="0"/>
              <a:t> report and recorded its key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TOOL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rPr dirty="0"/>
              <a:t>Three </a:t>
            </a:r>
            <a:r>
              <a:rPr lang="en-US" dirty="0"/>
              <a:t>different scanning tools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rPr dirty="0"/>
              <a:t>The tools complement one another: discover the host, inspect services, then investigate likely weaknesses.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799"/>
            <a:ext cx="3520440" cy="3657601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82296" cy="306324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Nmap — network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95728"/>
            <a:ext cx="3136392" cy="284385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dirty="0"/>
              <a:t>Purpose</a:t>
            </a:r>
            <a:br>
              <a:rPr dirty="0"/>
            </a:br>
            <a:r>
              <a:rPr lang="en-US" dirty="0"/>
              <a:t>Gain information about the target environment. </a:t>
            </a:r>
            <a:r>
              <a:rPr dirty="0"/>
              <a:t>Find live hosts, </a:t>
            </a:r>
            <a:r>
              <a:rPr lang="en-US" dirty="0"/>
              <a:t>services running and </a:t>
            </a:r>
            <a:r>
              <a:rPr dirty="0"/>
              <a:t>open ports</a:t>
            </a:r>
            <a:r>
              <a:rPr lang="en-US" dirty="0"/>
              <a:t>.</a:t>
            </a:r>
            <a:br>
              <a:rPr dirty="0"/>
            </a:br>
            <a:br>
              <a:rPr dirty="0"/>
            </a:br>
            <a:r>
              <a:rPr lang="en-US" dirty="0"/>
              <a:t>Commands</a:t>
            </a:r>
            <a:r>
              <a:rPr dirty="0"/>
              <a:t> used</a:t>
            </a:r>
            <a:br>
              <a:rPr dirty="0"/>
            </a:br>
            <a:r>
              <a:rPr dirty="0"/>
              <a:t>• </a:t>
            </a:r>
            <a:r>
              <a:rPr sz="1500" dirty="0" err="1">
                <a:solidFill>
                  <a:srgbClr val="2B3744"/>
                </a:solidFill>
                <a:latin typeface="Aptos"/>
              </a:rPr>
              <a:t>nmap</a:t>
            </a:r>
            <a:r>
              <a:rPr sz="1500" dirty="0">
                <a:solidFill>
                  <a:srgbClr val="2B3744"/>
                </a:solidFill>
                <a:latin typeface="Aptos"/>
              </a:rPr>
              <a:t> -</a:t>
            </a:r>
            <a:r>
              <a:rPr sz="1500" dirty="0" err="1">
                <a:solidFill>
                  <a:srgbClr val="2B3744"/>
                </a:solidFill>
                <a:latin typeface="Aptos"/>
              </a:rPr>
              <a:t>sn</a:t>
            </a:r>
            <a:r>
              <a:rPr sz="1500" dirty="0">
                <a:solidFill>
                  <a:srgbClr val="2B3744"/>
                </a:solidFill>
                <a:latin typeface="Aptos"/>
              </a:rPr>
              <a:t> </a:t>
            </a:r>
            <a:r>
              <a:rPr lang="en-AU" sz="1500" dirty="0">
                <a:solidFill>
                  <a:srgbClr val="2B3744"/>
                </a:solidFill>
                <a:latin typeface="Aptos"/>
              </a:rPr>
              <a:t>10.48.179.89</a:t>
            </a:r>
            <a:r>
              <a:rPr sz="1500" dirty="0">
                <a:solidFill>
                  <a:srgbClr val="2B3744"/>
                </a:solidFill>
                <a:latin typeface="Aptos"/>
              </a:rPr>
              <a:t> </a:t>
            </a:r>
            <a:r>
              <a:rPr lang="en-US" sz="1500" dirty="0">
                <a:solidFill>
                  <a:srgbClr val="2B3744"/>
                </a:solidFill>
                <a:latin typeface="Aptos"/>
              </a:rPr>
              <a:t>- </a:t>
            </a:r>
            <a:r>
              <a:rPr dirty="0"/>
              <a:t>host discovery</a:t>
            </a:r>
            <a:br>
              <a:rPr dirty="0"/>
            </a:br>
            <a:r>
              <a:rPr dirty="0"/>
              <a:t>• </a:t>
            </a:r>
            <a:r>
              <a:rPr dirty="0" err="1"/>
              <a:t>nmap</a:t>
            </a:r>
            <a:r>
              <a:rPr dirty="0"/>
              <a:t> -</a:t>
            </a:r>
            <a:r>
              <a:rPr dirty="0" err="1"/>
              <a:t>sV</a:t>
            </a:r>
            <a:r>
              <a:rPr dirty="0"/>
              <a:t> </a:t>
            </a:r>
            <a:r>
              <a:rPr lang="en-AU" sz="1500" dirty="0">
                <a:solidFill>
                  <a:srgbClr val="2B3744"/>
                </a:solidFill>
                <a:latin typeface="Aptos"/>
              </a:rPr>
              <a:t>10.48.179.89</a:t>
            </a:r>
            <a:r>
              <a:rPr dirty="0"/>
              <a:t> </a:t>
            </a:r>
            <a:r>
              <a:rPr lang="en-US" dirty="0"/>
              <a:t>– port scanning</a:t>
            </a:r>
          </a:p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lang="en-AU" dirty="0"/>
              <a:t>• </a:t>
            </a:r>
            <a:r>
              <a:rPr lang="en-AU" dirty="0" err="1"/>
              <a:t>nmap</a:t>
            </a:r>
            <a:r>
              <a:rPr lang="en-AU" dirty="0"/>
              <a:t> –A </a:t>
            </a:r>
            <a:r>
              <a:rPr lang="en-AU" sz="1500" dirty="0">
                <a:solidFill>
                  <a:srgbClr val="2B3744"/>
                </a:solidFill>
                <a:latin typeface="Aptos"/>
              </a:rPr>
              <a:t>10.48.179.89 – aggressive scan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43399" y="1828800"/>
            <a:ext cx="3610897" cy="3303638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82296" cy="3063240"/>
          </a:xfrm>
          <a:prstGeom prst="rect">
            <a:avLst/>
          </a:prstGeom>
          <a:solidFill>
            <a:srgbClr val="CF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Nikto — web-server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8"/>
            <a:ext cx="3136392" cy="168969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dirty="0"/>
              <a:t>Purpose</a:t>
            </a:r>
            <a:br>
              <a:rPr dirty="0"/>
            </a:br>
            <a:r>
              <a:rPr dirty="0"/>
              <a:t>Check a web server for common risky files, information disclosure and configuration issues.</a:t>
            </a:r>
            <a:br>
              <a:rPr dirty="0"/>
            </a:br>
            <a:br>
              <a:rPr dirty="0"/>
            </a:br>
            <a:r>
              <a:rPr lang="en-US" dirty="0"/>
              <a:t>Command</a:t>
            </a:r>
            <a:r>
              <a:rPr dirty="0"/>
              <a:t> used</a:t>
            </a:r>
            <a:br>
              <a:rPr dirty="0"/>
            </a:br>
            <a:r>
              <a:rPr dirty="0"/>
              <a:t>• </a:t>
            </a:r>
            <a:r>
              <a:rPr dirty="0" err="1"/>
              <a:t>nikto</a:t>
            </a:r>
            <a:r>
              <a:rPr dirty="0"/>
              <a:t> -h </a:t>
            </a:r>
            <a:r>
              <a:rPr lang="en-AU" dirty="0"/>
              <a:t>http://10.49.172.51:8080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93008" cy="3303638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306324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OpenVAS — vulnerability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14600"/>
            <a:ext cx="3136392" cy="2377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dirty="0"/>
              <a:t>Purpose</a:t>
            </a:r>
            <a:br>
              <a:rPr dirty="0"/>
            </a:br>
            <a:r>
              <a:rPr dirty="0"/>
              <a:t>Run vulnerability tests, group results by severity and associate findings with known vulnerabilities.</a:t>
            </a:r>
            <a:br>
              <a:rPr dirty="0"/>
            </a:br>
            <a:br>
              <a:rPr dirty="0"/>
            </a:br>
            <a:r>
              <a:rPr dirty="0"/>
              <a:t>In this lab</a:t>
            </a:r>
            <a:br>
              <a:rPr dirty="0"/>
            </a:br>
            <a:r>
              <a:rPr dirty="0"/>
              <a:t>Reviewed the supplied </a:t>
            </a:r>
            <a:r>
              <a:rPr dirty="0" err="1"/>
              <a:t>MyTarget</a:t>
            </a:r>
            <a:r>
              <a:rPr dirty="0"/>
              <a:t> pre-scanned report; a new scan was not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NMAP • HOST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Nmap -sn: check whether the host is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484632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82296" cy="132588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75104"/>
            <a:ext cx="448055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4462272" cy="3200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lang="en-AU" sz="1600" dirty="0" err="1">
                <a:latin typeface="Aptos"/>
              </a:rPr>
              <a:t>nmap</a:t>
            </a:r>
            <a:r>
              <a:rPr lang="en-AU" sz="1600" dirty="0">
                <a:latin typeface="Aptos"/>
              </a:rPr>
              <a:t> -</a:t>
            </a:r>
            <a:r>
              <a:rPr lang="en-AU" sz="1600" dirty="0" err="1">
                <a:latin typeface="Aptos"/>
              </a:rPr>
              <a:t>sn</a:t>
            </a:r>
            <a:r>
              <a:rPr lang="en-AU" sz="1600" dirty="0">
                <a:latin typeface="Aptos"/>
              </a:rPr>
              <a:t> 10.48.179.89</a:t>
            </a:r>
            <a:endParaRPr sz="1600" dirty="0"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48463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383280"/>
            <a:ext cx="82296" cy="150876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529584"/>
            <a:ext cx="448055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-sn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50208"/>
            <a:ext cx="4462272" cy="82295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t>Nmap performs host discovery and skips the normal port scan. It helps establish whether the target appears reachable.</a:t>
            </a:r>
          </a:p>
        </p:txBody>
      </p:sp>
      <p:pic>
        <p:nvPicPr>
          <p:cNvPr id="20" name="Picture 19" descr="nmap -s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4406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rPr>
                <a:latin typeface="Aptos"/>
              </a:rPr>
              <a:t>NMAP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rPr>
                <a:latin typeface="Aptos"/>
              </a:rPr>
              <a:t>Nmap -sn: what the result tells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27392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rPr dirty="0">
                <a:latin typeface="Aptos"/>
              </a:rPr>
              <a:t>Host discovery answers a reachability question</a:t>
            </a:r>
            <a:r>
              <a:rPr lang="en-US" dirty="0">
                <a:latin typeface="Aptos"/>
              </a:rPr>
              <a:t>,</a:t>
            </a:r>
            <a:r>
              <a:rPr dirty="0">
                <a:latin typeface="Aptos"/>
              </a:rPr>
              <a:t> it does not identify vulnerabilities.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22402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82296" cy="224028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rPr>
                <a:latin typeface="Aptos"/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3136392" cy="81253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600" dirty="0">
                <a:latin typeface="Aptos"/>
              </a:rPr>
              <a:t>Nmap reported 10.48.179.89 as up in the latest host-discovery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22402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82296" cy="224028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rPr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8"/>
            <a:ext cx="3136392" cy="81253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600" dirty="0">
                <a:latin typeface="Aptos"/>
              </a:rPr>
              <a:t>The target responded to Nmap’s discovery probes, indicating it was reachable at the time of the scan.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20440" cy="22402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82296" cy="2240280"/>
          </a:xfrm>
          <a:prstGeom prst="rect">
            <a:avLst/>
          </a:prstGeom>
          <a:solidFill>
            <a:srgbClr val="CF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975104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rPr>
                <a:latin typeface="Aptos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395728"/>
            <a:ext cx="3136392" cy="105875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sz="1600" dirty="0">
                <a:latin typeface="Aptos"/>
              </a:rPr>
              <a:t>A host-up result does not prove that every service is available, nor does it show whether the host is vulnerable.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NMAP • SERVICE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Nmap -sV: identify open ports and service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The service scan provided a more detailed view of the host than host discovery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8404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109728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75104"/>
            <a:ext cx="34747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95728"/>
            <a:ext cx="3456432" cy="41147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0">
                <a:solidFill>
                  <a:srgbClr val="2B3744"/>
                </a:solidFill>
                <a:latin typeface="Aptos"/>
              </a:defRPr>
            </a:pPr>
            <a:r>
              <a:t>nmap -sV 10.49.172.51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3840480" cy="164592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54680"/>
            <a:ext cx="82296" cy="164592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300984"/>
            <a:ext cx="34747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-sV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21608"/>
            <a:ext cx="3456432" cy="9601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t>Probes open ports to help identify the service and version running behind each port.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68122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NMAP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Nmap -sV: services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The earlier scan reported five open TCP ports on 10.49.172.51.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49240" cy="333756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333756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75104"/>
            <a:ext cx="4983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Open ports and detected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95728"/>
            <a:ext cx="4965192" cy="2651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600" b="0">
                <a:solidFill>
                  <a:srgbClr val="2B3744"/>
                </a:solidFill>
                <a:latin typeface="Aptos"/>
              </a:defRPr>
            </a:pPr>
            <a:r>
              <a:t>21/tcp — FTP, vsftpd 3.0.5</a:t>
            </a:r>
            <a:br/>
            <a:r>
              <a:t>22/tcp — SSH, OpenSSH 9.6p1</a:t>
            </a:r>
            <a:br/>
            <a:r>
              <a:t>80/tcp — HTTP, WebSockify Python/3.12.3</a:t>
            </a:r>
            <a:br/>
            <a:r>
              <a:t>5901/tcp — VNC (protocol 3.8)</a:t>
            </a:r>
            <a:br/>
            <a:r>
              <a:t>8080/tcp — HTTP, Apache httpd 2.4.58 (Ubuntu)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333756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333756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75104"/>
            <a:ext cx="48463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95728"/>
            <a:ext cx="4828032" cy="2651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FTP, SSH, web and VNC services were exposed on the scanned host.</a:t>
            </a:r>
            <a:br>
              <a:rPr dirty="0"/>
            </a:br>
            <a:r>
              <a:rPr dirty="0"/>
              <a:t>• Service/version details help defenders check patch status and whether access is necessary.</a:t>
            </a:r>
            <a:br>
              <a:rPr dirty="0"/>
            </a:br>
            <a:r>
              <a:rPr dirty="0"/>
              <a:t>• Open ports are not automatically vulnerabilities; each service needs context and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586878"/>
                </a:solidFill>
                <a:latin typeface="Aptos"/>
              </a:defRPr>
            </a:pPr>
            <a:r>
              <a:t>IP note: 10.49.172.51 was the address at scan time; after the VM restart, the current address shown was 10.48.191.167.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707E"/>
                </a:solidFill>
                <a:latin typeface="Aptos"/>
              </a:defRPr>
            </a:pPr>
            <a:r>
              <a:t>NMAP • AGGRESSIVE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233756"/>
                </a:solidFill>
                <a:latin typeface="Aptos"/>
              </a:defRPr>
            </a:pPr>
            <a:r>
              <a:rPr dirty="0"/>
              <a:t>Nmap -A: deeper host and service </a:t>
            </a:r>
            <a:r>
              <a:rPr lang="en-US" dirty="0"/>
              <a:t>scan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576C84"/>
                </a:solidFill>
                <a:latin typeface="Aptos"/>
              </a:defRPr>
            </a:pPr>
            <a:r>
              <a:rPr dirty="0"/>
              <a:t>The -A option combines several detection techniques for a </a:t>
            </a:r>
            <a:r>
              <a:rPr lang="en-US" dirty="0"/>
              <a:t>deeper</a:t>
            </a:r>
            <a:r>
              <a:rPr dirty="0"/>
              <a:t> view of the lab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703320" cy="11430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CA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73152" cy="1143000"/>
          </a:xfrm>
          <a:prstGeom prst="rect">
            <a:avLst/>
          </a:prstGeom>
          <a:solidFill>
            <a:srgbClr val="14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3319272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4707E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31720"/>
            <a:ext cx="331927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0">
                <a:solidFill>
                  <a:srgbClr val="233756"/>
                </a:solidFill>
                <a:latin typeface="Aptos"/>
              </a:defRPr>
            </a:pPr>
            <a:r>
              <a:t>nmap -A 10.49.172.51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370332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CA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54680"/>
            <a:ext cx="73152" cy="1600200"/>
          </a:xfrm>
          <a:prstGeom prst="rect">
            <a:avLst/>
          </a:prstGeom>
          <a:solidFill>
            <a:srgbClr val="EF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273552"/>
            <a:ext cx="3319272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EF8B25"/>
                </a:solidFill>
                <a:latin typeface="Aptos"/>
              </a:defRPr>
            </a:pPr>
            <a:r>
              <a:t>What -A enables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57600"/>
            <a:ext cx="3319272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233756"/>
                </a:solidFill>
                <a:latin typeface="Aptos"/>
              </a:defRPr>
            </a:pPr>
            <a:r>
              <a:t>Enables OS detection, version detection, default NSE scripts and traceroute. It can reveal more context than -sn or -sV alone.</a:t>
            </a:r>
          </a:p>
        </p:txBody>
      </p:sp>
      <p:pic>
        <p:nvPicPr>
          <p:cNvPr id="19" name="Picture 18" descr="nmap -A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694944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707E"/>
                </a:solidFill>
                <a:latin typeface="Aptos"/>
              </a:defRPr>
            </a:pPr>
            <a:r>
              <a:t>NMAP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233756"/>
                </a:solidFill>
                <a:latin typeface="Aptos"/>
              </a:defRPr>
            </a:pPr>
            <a:r>
              <a:t>Nmap -A: observed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576C84"/>
                </a:solidFill>
                <a:latin typeface="Aptos"/>
              </a:defRPr>
            </a:pPr>
            <a:r>
              <a:t>The scan identified reachable services and returned additional service and HTTP script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040" y="1579847"/>
            <a:ext cx="10800000" cy="1809135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CA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815" y="1609345"/>
            <a:ext cx="45719" cy="1779638"/>
          </a:xfrm>
          <a:prstGeom prst="rect">
            <a:avLst/>
          </a:prstGeom>
          <a:solidFill>
            <a:srgbClr val="14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73936"/>
            <a:ext cx="4965192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4707E"/>
                </a:solidFill>
                <a:latin typeface="Aptos"/>
              </a:defRPr>
            </a:pPr>
            <a:r>
              <a:rPr dirty="0"/>
              <a:t>Observed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42547"/>
            <a:ext cx="10100000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33756"/>
                </a:solidFill>
                <a:latin typeface="Aptos"/>
              </a:defRPr>
            </a:pPr>
            <a:r>
              <a:rPr dirty="0"/>
              <a:t>• Host 10.49.172.51 was up; 995 TCP ports were reported closed.</a:t>
            </a:r>
            <a:br>
              <a:rPr dirty="0"/>
            </a:br>
            <a:r>
              <a:rPr dirty="0"/>
              <a:t>• 21/</a:t>
            </a:r>
            <a:r>
              <a:rPr dirty="0" err="1"/>
              <a:t>tcp</a:t>
            </a:r>
            <a:r>
              <a:rPr dirty="0"/>
              <a:t>: FTP, </a:t>
            </a:r>
            <a:r>
              <a:rPr dirty="0" err="1"/>
              <a:t>vsftpd</a:t>
            </a:r>
            <a:r>
              <a:rPr dirty="0"/>
              <a:t> 3.0.5; anonymous FTP login was allowed.</a:t>
            </a:r>
            <a:br>
              <a:rPr dirty="0"/>
            </a:br>
            <a:r>
              <a:rPr dirty="0"/>
              <a:t>• 22/</a:t>
            </a:r>
            <a:r>
              <a:rPr dirty="0" err="1"/>
              <a:t>tcp</a:t>
            </a:r>
            <a:r>
              <a:rPr dirty="0"/>
              <a:t>: SSH, OpenSSH 9.6p1 Ubuntu.</a:t>
            </a:r>
            <a:br>
              <a:rPr dirty="0"/>
            </a:br>
            <a:r>
              <a:rPr dirty="0"/>
              <a:t>• HTTP-related script output reported Apache/2.4.58 (Ubuntu), a PHP session cookie without the </a:t>
            </a:r>
            <a:r>
              <a:rPr dirty="0" err="1"/>
              <a:t>HttpOnly</a:t>
            </a:r>
            <a:r>
              <a:rPr dirty="0"/>
              <a:t> flag, and an HTTP method response.</a:t>
            </a:r>
          </a:p>
        </p:txBody>
      </p:sp>
      <p:pic>
        <p:nvPicPr>
          <p:cNvPr id="15" name="Picture 14" descr="nmap -A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49445"/>
            <a:ext cx="5257800" cy="2878787"/>
          </a:xfrm>
          <a:prstGeom prst="rect">
            <a:avLst/>
          </a:prstGeom>
        </p:spPr>
      </p:pic>
      <p:pic>
        <p:nvPicPr>
          <p:cNvPr id="16" name="Picture 15" descr="nmap -A 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49445"/>
            <a:ext cx="5212080" cy="28787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707E"/>
                </a:solidFill>
                <a:latin typeface="Aptos"/>
              </a:defRPr>
            </a:pPr>
            <a:r>
              <a:t>NMAP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700" b="1">
                <a:solidFill>
                  <a:srgbClr val="233756"/>
                </a:solidFill>
                <a:latin typeface="Aptos"/>
              </a:defRPr>
            </a:pPr>
            <a:r>
              <a:t>Nmap -A: what the findings mean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209760"/>
            <a:ext cx="10800000" cy="1504335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CA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5389" y="1209760"/>
            <a:ext cx="73152" cy="1504335"/>
          </a:xfrm>
          <a:prstGeom prst="rect">
            <a:avLst/>
          </a:prstGeom>
          <a:solidFill>
            <a:srgbClr val="EF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9536" y="1328632"/>
            <a:ext cx="103000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EF8B25"/>
                </a:solidFill>
                <a:latin typeface="Aptos"/>
              </a:defRPr>
            </a:pPr>
            <a:r>
              <a:rPr dirty="0"/>
              <a:t>What the findings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712680"/>
            <a:ext cx="10300000" cy="14373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33756"/>
                </a:solidFill>
                <a:latin typeface="Aptos"/>
              </a:defRPr>
            </a:pPr>
            <a:r>
              <a:rPr dirty="0"/>
              <a:t>• Anonymous FTP may expose files to unauthenticated users; confirm whether access is necessary and restrict it if not.
• Service banners can reveal software versions, helping identify patching needs
• A PHP session cookie without the </a:t>
            </a:r>
            <a:r>
              <a:rPr dirty="0" err="1"/>
              <a:t>HttpOnly</a:t>
            </a:r>
            <a:r>
              <a:rPr dirty="0"/>
              <a:t> flag may be more exposed if client-side scripts are compromised.
• Treat script output as leads to </a:t>
            </a:r>
            <a:r>
              <a:rPr lang="en-US" dirty="0"/>
              <a:t>look into</a:t>
            </a:r>
            <a:r>
              <a:rPr dirty="0"/>
              <a:t>, not automatic proof of exploitability.</a:t>
            </a: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15" name="Picture 14" descr="nmap -A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38168"/>
            <a:ext cx="5257800" cy="3390064"/>
          </a:xfrm>
          <a:prstGeom prst="rect">
            <a:avLst/>
          </a:prstGeom>
        </p:spPr>
      </p:pic>
      <p:pic>
        <p:nvPicPr>
          <p:cNvPr id="16" name="Picture 15" descr="nmap -A 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38168"/>
            <a:ext cx="5212080" cy="3390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419088"/>
            <a:ext cx="106070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576C84"/>
                </a:solidFill>
                <a:latin typeface="Aptos"/>
              </a:defRPr>
            </a:pPr>
            <a:r>
              <a:rPr dirty="0"/>
              <a:t>Screenshots provide supporting evidence for the </a:t>
            </a:r>
            <a:r>
              <a:rPr dirty="0" err="1"/>
              <a:t>fidings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D5B6C"/>
                </a:solidFill>
                <a:latin typeface="Aptos"/>
              </a:defRPr>
            </a:pPr>
            <a:r>
              <a:t>RESULTS •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E3044"/>
                </a:solidFill>
                <a:latin typeface="Aptos"/>
              </a:defRPr>
            </a:pPr>
            <a:r>
              <a:t>Nmap: observed results and what they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4924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3429000"/>
          </a:xfrm>
          <a:prstGeom prst="rect">
            <a:avLst/>
          </a:prstGeom>
          <a:solidFill>
            <a:srgbClr val="326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983479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Observed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59152"/>
            <a:ext cx="4965192" cy="171636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nmap</a:t>
            </a:r>
            <a:r>
              <a:rPr sz="1600" dirty="0"/>
              <a:t> -</a:t>
            </a:r>
            <a:r>
              <a:rPr sz="1600" dirty="0" err="1"/>
              <a:t>sn</a:t>
            </a:r>
            <a:r>
              <a:rPr sz="1600" dirty="0"/>
              <a:t> 10.48.179.89: Nmap reported “1 host up”.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nmap</a:t>
            </a:r>
            <a:r>
              <a:rPr sz="1600" dirty="0"/>
              <a:t> -</a:t>
            </a:r>
            <a:r>
              <a:rPr sz="1600" dirty="0" err="1"/>
              <a:t>sV</a:t>
            </a:r>
            <a:r>
              <a:rPr sz="1600" dirty="0"/>
              <a:t> 10.49.172.51: five open TCP ports were reported.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sz="1600" dirty="0"/>
              <a:t>• </a:t>
            </a:r>
            <a:r>
              <a:rPr lang="en-US" sz="1600" dirty="0" err="1"/>
              <a:t>nmap</a:t>
            </a:r>
            <a:r>
              <a:rPr lang="en-US" sz="1600" dirty="0"/>
              <a:t> –A </a:t>
            </a:r>
            <a:r>
              <a:rPr lang="en-AU" sz="1600" dirty="0"/>
              <a:t>10.49.172.51: specific information about potential vulnerabilities such as unauthorised FTP access</a:t>
            </a:r>
            <a:endParaRPr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342900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56816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the results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9152"/>
            <a:ext cx="4828032" cy="171636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sz="1600" dirty="0"/>
              <a:t>• The -</a:t>
            </a:r>
            <a:r>
              <a:rPr sz="1600" dirty="0" err="1"/>
              <a:t>sn</a:t>
            </a:r>
            <a:r>
              <a:rPr sz="1600" dirty="0"/>
              <a:t> result indicates the host responded to discovery probes at that </a:t>
            </a:r>
            <a:r>
              <a:rPr sz="1600" dirty="0" err="1"/>
              <a:t>tim</a:t>
            </a:r>
            <a:r>
              <a:rPr lang="en-US" sz="1600" dirty="0" err="1"/>
              <a:t>.</a:t>
            </a:r>
            <a:r>
              <a:rPr lang="en-US" sz="1600" dirty="0"/>
              <a:t> It </a:t>
            </a:r>
            <a:r>
              <a:rPr sz="1600" dirty="0"/>
              <a:t>does not scan ports.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sz="1600" dirty="0"/>
              <a:t>• The -</a:t>
            </a:r>
            <a:r>
              <a:rPr sz="1600" dirty="0" err="1"/>
              <a:t>sV</a:t>
            </a:r>
            <a:r>
              <a:rPr sz="1600" dirty="0"/>
              <a:t> result helps identify which services may need access controls, patch checks or removal.</a:t>
            </a:r>
            <a:endParaRPr lang="en-US" sz="1600" dirty="0"/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lang="en-US" sz="1600" dirty="0"/>
              <a:t>• The –A result shows several points of exposure which may be exploited</a:t>
            </a:r>
          </a:p>
        </p:txBody>
      </p:sp>
    </p:spTree>
    <p:extLst>
      <p:ext uri="{BB962C8B-B14F-4D97-AF65-F5344CB8AC3E}">
        <p14:creationId xmlns:p14="http://schemas.microsoft.com/office/powerpoint/2010/main" val="1726210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NIKTO • WEB SERVER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Nikto: check the web service on port 8080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Nikto checks for common web-server files, configuration weaknesses and information-disclosure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7033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1234440"/>
          </a:xfrm>
          <a:prstGeom prst="rect">
            <a:avLst/>
          </a:prstGeom>
          <a:solidFill>
            <a:srgbClr val="CF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75104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95728"/>
            <a:ext cx="331927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rPr dirty="0" err="1"/>
              <a:t>nikto</a:t>
            </a:r>
            <a:r>
              <a:rPr dirty="0"/>
              <a:t> -h http://10.49.172.51:8080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91840"/>
            <a:ext cx="37033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291840"/>
            <a:ext cx="82296" cy="1554480"/>
          </a:xfrm>
          <a:prstGeom prst="rect">
            <a:avLst/>
          </a:prstGeom>
          <a:solidFill>
            <a:srgbClr val="CF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438144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Scan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58768"/>
            <a:ext cx="3319272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t>The scan targeted HTTP on port 8080, where the service banner identified Apache 2.4.58 (Ubuntu).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69494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D5B6C"/>
                </a:solidFill>
                <a:latin typeface="Aptos"/>
              </a:defRPr>
            </a:pPr>
            <a:r>
              <a:t>RESULTS • NIKTO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E3044"/>
                </a:solidFill>
                <a:latin typeface="Aptos"/>
              </a:defRPr>
            </a:pPr>
            <a:r>
              <a:t>Nikto: observed results and what they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86878"/>
                </a:solidFill>
                <a:latin typeface="Aptos"/>
              </a:defRPr>
            </a:pPr>
            <a:r>
              <a:t>Nikto checked the web service at http://10.49.172.51:8080 and reported potential web-server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4924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3429000"/>
          </a:xfrm>
          <a:prstGeom prst="rect">
            <a:avLst/>
          </a:prstGeom>
          <a:solidFill>
            <a:srgbClr val="CF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983479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Observed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59152"/>
            <a:ext cx="4965192" cy="215494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6,544 items checked; seven items reported.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/</a:t>
            </a:r>
            <a:r>
              <a:rPr dirty="0" err="1"/>
              <a:t>info.php</a:t>
            </a:r>
            <a:r>
              <a:rPr dirty="0"/>
              <a:t> exposed a PHP information page.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Directory indexing was found at /static/.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The PHP session cookie lacked the </a:t>
            </a:r>
            <a:r>
              <a:rPr dirty="0" err="1"/>
              <a:t>HttpOnly</a:t>
            </a:r>
            <a:r>
              <a:rPr dirty="0"/>
              <a:t> flag.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X-Frame-Options was absent</a:t>
            </a:r>
            <a:r>
              <a:rPr lang="en-US" dirty="0"/>
              <a:t>, </a:t>
            </a:r>
            <a:r>
              <a:rPr dirty="0"/>
              <a:t> /server-status may expose Apache details.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A possible RFI-related pattern was reported for an </a:t>
            </a:r>
            <a:r>
              <a:rPr dirty="0" err="1"/>
              <a:t>info.php</a:t>
            </a:r>
            <a:r>
              <a:rPr dirty="0"/>
              <a:t> parameter.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342900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56816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the results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9152"/>
            <a:ext cx="4828032" cy="28072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Diagnostic pages and server-status output may disclose configuration details.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Directory listing can reveal files not intended to be browsed.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Cookie flags and browser-security headers add protection, but their absence alone does not prove compromise.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Restrict or remove unnecessary pages, disable directory listing, set suitable headers and cookie flags, and manually verify the RFI-related alert.</a:t>
            </a:r>
          </a:p>
        </p:txBody>
      </p:sp>
    </p:spTree>
    <p:extLst>
      <p:ext uri="{BB962C8B-B14F-4D97-AF65-F5344CB8AC3E}">
        <p14:creationId xmlns:p14="http://schemas.microsoft.com/office/powerpoint/2010/main" val="1291959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OPENVAS • TARGET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OpenVAS: add a scanning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A target tells OpenVAS which host or IP address a scan should assess.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703320" cy="123444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123444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Steps followed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3319272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B3744"/>
                </a:solidFill>
                <a:latin typeface="Aptos"/>
              </a:defRPr>
            </a:pPr>
            <a:r>
              <a:t>Open Configuration &gt; Targets, select the + icon, then create a target named SecondTarget.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64408"/>
            <a:ext cx="3703320" cy="155448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264408"/>
            <a:ext cx="73152" cy="155448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392424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Target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767328"/>
            <a:ext cx="331927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Choose Manual under Hosts and enter the lab VM's current IP address. In the screenshot, the </a:t>
            </a:r>
            <a:r>
              <a:rPr lang="en-US" dirty="0"/>
              <a:t>target IP</a:t>
            </a:r>
            <a:r>
              <a:rPr dirty="0"/>
              <a:t> is 10.49.172.51. Select Save to register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20056"/>
            <a:ext cx="3703320" cy="123444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5020056"/>
            <a:ext cx="73152" cy="123444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5148072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522976"/>
            <a:ext cx="331927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B3744"/>
                </a:solidFill>
                <a:latin typeface="Aptos"/>
              </a:defRPr>
            </a:pPr>
            <a:r>
              <a:rPr dirty="0"/>
              <a:t>Stores the host details for a scan. </a:t>
            </a:r>
          </a:p>
        </p:txBody>
      </p:sp>
      <p:pic>
        <p:nvPicPr>
          <p:cNvPr id="18" name="Picture 17" descr="openvas_new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69494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OPENVAS • TASK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OpenVAS: create a scan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A task connects the target to a scan configuration and lets OpenVAS manage the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703320" cy="109728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109728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Steps followed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331927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B3744"/>
                </a:solidFill>
                <a:latin typeface="Aptos"/>
              </a:defRPr>
            </a:pPr>
            <a:r>
              <a:t>Go to Scans &gt; Tasks, select the + icon, and choose New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27248"/>
            <a:ext cx="3703320" cy="137160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127248"/>
            <a:ext cx="73152" cy="137160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255264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Task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30168"/>
            <a:ext cx="331927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B3744"/>
                </a:solidFill>
                <a:latin typeface="Aptos"/>
              </a:defRPr>
            </a:pPr>
            <a:r>
              <a:t>Name the task SecondTask and select SecondTarget under Scan Targets. Keep the default scan configuration and select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3703320" cy="1600200"/>
          </a:xfrm>
          <a:prstGeom prst="roundRect">
            <a:avLst/>
          </a:prstGeom>
          <a:solidFill>
            <a:srgbClr val="F2F7F9"/>
          </a:solidFill>
          <a:ln w="12700"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4700016"/>
            <a:ext cx="73152" cy="1600200"/>
          </a:xfrm>
          <a:prstGeom prst="rect">
            <a:avLst/>
          </a:prstGeom>
          <a:solidFill>
            <a:srgbClr val="298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828031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Run and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202936"/>
            <a:ext cx="331927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B3744"/>
                </a:solidFill>
                <a:latin typeface="Aptos"/>
              </a:defRPr>
            </a:pPr>
            <a:r>
              <a:rPr lang="en-US" dirty="0"/>
              <a:t>C</a:t>
            </a:r>
            <a:r>
              <a:rPr dirty="0"/>
              <a:t>lick Run and review the report. Feed syncing may prevent a fresh scan in this room, so use the supplied </a:t>
            </a:r>
            <a:r>
              <a:rPr dirty="0" err="1"/>
              <a:t>MyTarget</a:t>
            </a:r>
            <a:r>
              <a:rPr dirty="0"/>
              <a:t> report for the questions.</a:t>
            </a:r>
          </a:p>
        </p:txBody>
      </p:sp>
      <p:pic>
        <p:nvPicPr>
          <p:cNvPr id="18" name="Picture 17" descr="openvas_new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69494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D5B6C"/>
                </a:solidFill>
                <a:latin typeface="Aptos"/>
              </a:defRPr>
            </a:pPr>
            <a:r>
              <a:t>OPENVAS • REPORT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700" b="1">
                <a:solidFill>
                  <a:srgbClr val="1E3044"/>
                </a:solidFill>
                <a:latin typeface="Aptos"/>
              </a:defRPr>
            </a:pPr>
            <a:r>
              <a:t>OpenVAS: review the supplied vulnerability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586878"/>
                </a:solidFill>
                <a:latin typeface="Aptos"/>
              </a:defRPr>
            </a:pPr>
            <a:r>
              <a:t>The room notes that a fresh scan may not run because vulnerability feeds need an active internet 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7033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123444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75104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Workflow followed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95728"/>
            <a:ext cx="331927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2B3744"/>
                </a:solidFill>
                <a:latin typeface="Aptos"/>
              </a:defRPr>
            </a:pPr>
            <a:r>
              <a:t>Open Scans &gt; Reports, then select the pre-scanned MyTarget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91840"/>
            <a:ext cx="3703320" cy="1764792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291840"/>
            <a:ext cx="82296" cy="1764792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438144"/>
            <a:ext cx="3337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700" b="1">
                <a:solidFill>
                  <a:srgbClr val="1D5B6C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58768"/>
            <a:ext cx="3319272" cy="93564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I reviewed the supplied report rather than </a:t>
            </a:r>
            <a:r>
              <a:rPr lang="en-US" dirty="0"/>
              <a:t>completing </a:t>
            </a:r>
            <a:r>
              <a:rPr dirty="0"/>
              <a:t>a new scan. The report’s host differs from the temporary IP used in the Nmap/</a:t>
            </a:r>
            <a:r>
              <a:rPr dirty="0" err="1"/>
              <a:t>Nikto</a:t>
            </a:r>
            <a:r>
              <a:rPr dirty="0"/>
              <a:t> commands.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69494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825B"/>
                </a:solidFill>
                <a:latin typeface="Aptos"/>
              </a:defRPr>
            </a:pPr>
            <a:r>
              <a:t>OPENVAS • REPORT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  <a:latin typeface="Aptos Display"/>
              </a:defRPr>
            </a:pPr>
            <a:r>
              <a:t>OpenVAS report: results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C5663"/>
                </a:solidFill>
                <a:latin typeface="Aptos"/>
              </a:defRPr>
            </a:pPr>
            <a:r>
              <a:t>The Results tab lists the findings detected in the supplied MyTarget scan.</a:t>
            </a:r>
          </a:p>
        </p:txBody>
      </p:sp>
      <p:pic>
        <p:nvPicPr>
          <p:cNvPr id="9" name="Picture 8" descr="openvasresport full screen.png">
            <a:extLst>
              <a:ext uri="{FF2B5EF4-FFF2-40B4-BE49-F238E27FC236}">
                <a16:creationId xmlns:a16="http://schemas.microsoft.com/office/drawing/2014/main" id="{87BE4EB7-A952-844E-50D4-A8DCA81A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855" y="1588824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825B"/>
                </a:solidFill>
                <a:latin typeface="Aptos"/>
              </a:defRPr>
            </a:pPr>
            <a:r>
              <a:t>OPENVAS • REPORT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  <a:latin typeface="Aptos Display"/>
              </a:defRPr>
            </a:pPr>
            <a:r>
              <a:t>OpenVAS report: full results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C5663"/>
                </a:solidFill>
                <a:latin typeface="Aptos"/>
              </a:defRPr>
            </a:pPr>
            <a:r>
              <a:t>The expanded view makes the individual findings and severity ratings easier to compare.</a:t>
            </a:r>
          </a:p>
        </p:txBody>
      </p:sp>
      <p:pic>
        <p:nvPicPr>
          <p:cNvPr id="9" name="Picture 8" descr="openvas results1(1).png">
            <a:extLst>
              <a:ext uri="{FF2B5EF4-FFF2-40B4-BE49-F238E27FC236}">
                <a16:creationId xmlns:a16="http://schemas.microsoft.com/office/drawing/2014/main" id="{E188BE22-D63F-9F1C-450A-E480278D3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364" y="1591056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D5B6C"/>
                </a:solidFill>
                <a:latin typeface="Aptos"/>
              </a:defRPr>
            </a:pPr>
            <a:r>
              <a:t>RESULTS • OPENVAS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E3044"/>
                </a:solidFill>
                <a:latin typeface="Aptos"/>
              </a:defRPr>
            </a:pPr>
            <a:r>
              <a:t>OpenVAS: observed results and what they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86878"/>
                </a:solidFill>
                <a:latin typeface="Aptos"/>
              </a:defRPr>
            </a:pPr>
            <a:r>
              <a:t>This analysis uses TryHackMe’s pre-scanned MyTarget report, not a new scan run by 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4924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82296" cy="342900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983479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Observed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59152"/>
            <a:ext cx="4965192" cy="28072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Report status: Done; overall severity score 6.4 (Medium).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phpinfo() Output Reporting (HTTP): 5.3 (Medium).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Anonymous FTP Login Reporting: CVE-1999-0497.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Operating system reported: Ubuntu 24.04.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Other results included missing HttpOnly cookie protection, FTP cleartext login and TCP timestamp information disclosure.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t>• Report host: 10.82.73.204.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3429000"/>
          </a:xfrm>
          <a:prstGeom prst="roundRect">
            <a:avLst/>
          </a:prstGeom>
          <a:solidFill>
            <a:srgbClr val="F2F7FA"/>
          </a:solidFill>
          <a:ln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3429000"/>
          </a:xfrm>
          <a:prstGeom prst="rect">
            <a:avLst/>
          </a:prstGeom>
          <a:solidFill>
            <a:srgbClr val="1D5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56816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D5B6C"/>
                </a:solidFill>
                <a:latin typeface="Aptos"/>
              </a:defRPr>
            </a:pPr>
            <a:r>
              <a:t>What the results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9152"/>
            <a:ext cx="4828032" cy="25217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OpenVAS groups findings by severity and can link issues to published CVEs to support </a:t>
            </a:r>
            <a:r>
              <a:rPr dirty="0" err="1"/>
              <a:t>prioritisation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Anonymous FTP may allow file access without individual accounts</a:t>
            </a:r>
            <a:r>
              <a:rPr lang="en-US" dirty="0"/>
              <a:t>. Disable </a:t>
            </a:r>
            <a:r>
              <a:rPr dirty="0"/>
              <a:t>it if not required.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Public </a:t>
            </a:r>
            <a:r>
              <a:rPr dirty="0" err="1"/>
              <a:t>phpinfo</a:t>
            </a:r>
            <a:r>
              <a:rPr dirty="0"/>
              <a:t> pages can reveal system configuratio</a:t>
            </a:r>
            <a:r>
              <a:rPr lang="en-US" dirty="0"/>
              <a:t>n. R</a:t>
            </a:r>
            <a:r>
              <a:rPr dirty="0"/>
              <a:t>estrict access.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Cleartext FTP can expose credentials in transit</a:t>
            </a:r>
            <a:r>
              <a:rPr lang="en-US" dirty="0"/>
              <a:t>. Use </a:t>
            </a:r>
            <a:r>
              <a:rPr dirty="0"/>
              <a:t>encrypted alternatives.</a:t>
            </a:r>
          </a:p>
          <a:p>
            <a:pPr>
              <a:spcAft>
                <a:spcPts val="500"/>
              </a:spcAft>
              <a:defRPr sz="1400" b="0">
                <a:solidFill>
                  <a:srgbClr val="2B3744"/>
                </a:solidFill>
                <a:latin typeface="Aptos"/>
              </a:defRPr>
            </a:pPr>
            <a:r>
              <a:rPr dirty="0"/>
              <a:t>• Validate findings and </a:t>
            </a:r>
            <a:r>
              <a:rPr dirty="0" err="1"/>
              <a:t>prioritise</a:t>
            </a:r>
            <a:r>
              <a:rPr dirty="0"/>
              <a:t> based on severity, exposure and context.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9191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3233D"/>
                </a:solidFill>
                <a:latin typeface="Aptos Display"/>
              </a:defRPr>
            </a:pPr>
            <a:r>
              <a:t>What I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485900"/>
            <a:ext cx="3547873" cy="4078224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85900"/>
            <a:ext cx="82296" cy="233172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504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Technical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61972"/>
            <a:ext cx="30632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Nmap helped me identify reachable services, while </a:t>
            </a:r>
            <a:r>
              <a:rPr dirty="0" err="1"/>
              <a:t>Nikto</a:t>
            </a:r>
            <a:r>
              <a:rPr dirty="0"/>
              <a:t> highlighted web-server configuration concerns. OpenVAS showed how findings can be grouped by severity and linked to known CVEs.</a:t>
            </a:r>
          </a:p>
          <a:p>
            <a:r>
              <a:rPr lang="en-US" dirty="0"/>
              <a:t>I was surprised how few simple commands and scans can reveal a lot about a system’s potential weaknesses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43399" y="1485900"/>
            <a:ext cx="3547873" cy="4078224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85900"/>
            <a:ext cx="82296" cy="23317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504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Professional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61972"/>
            <a:ext cx="30632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I am wanting to become a Cybersecurity Analyst, these tools can help teach how to use practical skills to </a:t>
            </a:r>
            <a:r>
              <a:rPr dirty="0"/>
              <a:t>spot possible weaknesses, and provide evidence for remediation. Findings still need validation before being treated as confirmed vulnerabilities.</a:t>
            </a:r>
          </a:p>
          <a:p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955278" y="1485900"/>
            <a:ext cx="3547873" cy="4078224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485900"/>
            <a:ext cx="82296" cy="2331720"/>
          </a:xfrm>
          <a:prstGeom prst="rect">
            <a:avLst/>
          </a:prstGeom>
          <a:solidFill>
            <a:srgbClr val="E38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6504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33D"/>
                </a:solidFill>
                <a:latin typeface="Aptos Display"/>
              </a:defRPr>
            </a:pPr>
            <a:r>
              <a:t>Next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61972"/>
            <a:ext cx="30632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I learned to check the target IP after a VM restart because lab addresses can change. </a:t>
            </a:r>
            <a:r>
              <a:rPr lang="en-US" dirty="0"/>
              <a:t>The OpenVAS exercise </a:t>
            </a:r>
            <a:r>
              <a:rPr dirty="0"/>
              <a:t>provided </a:t>
            </a:r>
            <a:r>
              <a:rPr lang="en-US" dirty="0"/>
              <a:t>a </a:t>
            </a:r>
            <a:r>
              <a:rPr dirty="0"/>
              <a:t>pre-scanned report </a:t>
            </a:r>
            <a:r>
              <a:rPr lang="en-US" dirty="0"/>
              <a:t>to review, it would be good to do a live scan to dig in to this tool further. I would like to find more </a:t>
            </a:r>
            <a:r>
              <a:rPr lang="en-US" dirty="0" err="1"/>
              <a:t>TryHackMe</a:t>
            </a:r>
            <a:r>
              <a:rPr lang="en-US" dirty="0"/>
              <a:t> modules that continue exploration of these tools further.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91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2012859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Nmap identified exposed services on the </a:t>
            </a:r>
            <a:r>
              <a:rPr dirty="0" err="1">
                <a:solidFill>
                  <a:schemeClr val="bg1"/>
                </a:solidFill>
              </a:rPr>
              <a:t>authorised</a:t>
            </a:r>
            <a:r>
              <a:rPr dirty="0">
                <a:solidFill>
                  <a:schemeClr val="bg1"/>
                </a:solidFill>
              </a:rPr>
              <a:t> lab host. </a:t>
            </a:r>
            <a:r>
              <a:rPr dirty="0" err="1">
                <a:solidFill>
                  <a:schemeClr val="bg1"/>
                </a:solidFill>
              </a:rPr>
              <a:t>Nikto</a:t>
            </a:r>
            <a:r>
              <a:rPr dirty="0">
                <a:solidFill>
                  <a:schemeClr val="bg1"/>
                </a:solidFill>
              </a:rPr>
              <a:t> reported web-server configuration and information-disclosure concerns. The provided OpenVAS report showed how findings are assigned severity and linked to CVEs.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The key lesson is to scan only </a:t>
            </a:r>
            <a:r>
              <a:rPr dirty="0" err="1">
                <a:solidFill>
                  <a:schemeClr val="bg1"/>
                </a:solidFill>
              </a:rPr>
              <a:t>authorised</a:t>
            </a:r>
            <a:r>
              <a:rPr dirty="0">
                <a:solidFill>
                  <a:schemeClr val="bg1"/>
                </a:solidFill>
              </a:rPr>
              <a:t> targets, keep scope and evidence clear, validate findings, and </a:t>
            </a:r>
            <a:r>
              <a:rPr dirty="0" err="1">
                <a:solidFill>
                  <a:schemeClr val="bg1"/>
                </a:solidFill>
              </a:rPr>
              <a:t>prioritise</a:t>
            </a:r>
            <a:r>
              <a:rPr dirty="0">
                <a:solidFill>
                  <a:schemeClr val="bg1"/>
                </a:solidFill>
              </a:rPr>
              <a:t> proportionate fixes. A scanner report guides investigation</a:t>
            </a:r>
            <a:r>
              <a:rPr lang="en-US" dirty="0">
                <a:solidFill>
                  <a:schemeClr val="bg1"/>
                </a:solidFill>
              </a:rPr>
              <a:t>, i</a:t>
            </a:r>
            <a:r>
              <a:rPr dirty="0">
                <a:solidFill>
                  <a:schemeClr val="bg1"/>
                </a:solidFill>
              </a:rPr>
              <a:t>t does not by itself prove exploitation.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493776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2DBD3"/>
                </a:solidFill>
                <a:latin typeface="Aptos Display"/>
              </a:defRPr>
            </a:pPr>
            <a:r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488ED-5B72-9B03-F136-AD77D8AA0439}"/>
              </a:ext>
            </a:extLst>
          </p:cNvPr>
          <p:cNvSpPr txBox="1"/>
          <p:nvPr/>
        </p:nvSpPr>
        <p:spPr>
          <a:xfrm>
            <a:off x="-1048893" y="40161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817ca0-5972-4b9d-95f1-5b130f4efb6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A20374418F204996362F6821E0BC35" ma:contentTypeVersion="10" ma:contentTypeDescription="Create a new document." ma:contentTypeScope="" ma:versionID="3015655cf92638237ecfa19e39fce25f">
  <xsd:schema xmlns:xsd="http://www.w3.org/2001/XMLSchema" xmlns:xs="http://www.w3.org/2001/XMLSchema" xmlns:p="http://schemas.microsoft.com/office/2006/metadata/properties" xmlns:ns3="04817ca0-5972-4b9d-95f1-5b130f4efb6e" targetNamespace="http://schemas.microsoft.com/office/2006/metadata/properties" ma:root="true" ma:fieldsID="e9822e4a4d40438d2d1677ee5beabb65" ns3:_="">
    <xsd:import namespace="04817ca0-5972-4b9d-95f1-5b130f4efb6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17ca0-5972-4b9d-95f1-5b130f4efb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41DE69-EBB2-4E8E-A20D-8BE8BA74E4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737360-967A-4DF2-9C35-D2B50FE9AB7E}">
  <ds:schemaRefs>
    <ds:schemaRef ds:uri="04817ca0-5972-4b9d-95f1-5b130f4efb6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0ACB974-CFAD-4390-8E64-0A5C660248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817ca0-5972-4b9d-95f1-5b130f4efb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df54d0f-cccc-4bf5-a773-9107927d3c5b}" enabled="0" method="" siteId="{cdf54d0f-cccc-4bf5-a773-9107927d3c5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2494</Words>
  <Application>Microsoft Office PowerPoint</Application>
  <PresentationFormat>Widescreen</PresentationFormat>
  <Paragraphs>237</Paragraphs>
  <Slides>23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Jane Armstrong</dc:creator>
  <cp:keywords/>
  <dc:description>generated using python-pptx</dc:description>
  <cp:lastModifiedBy>Jane Armstrong</cp:lastModifiedBy>
  <cp:revision>18</cp:revision>
  <dcterms:created xsi:type="dcterms:W3CDTF">2013-01-27T09:14:16Z</dcterms:created>
  <dcterms:modified xsi:type="dcterms:W3CDTF">2026-10-18T03:35:58Z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0x0101007DA20374418F204996362F6821E0BC35</vt:lpwstr>
  </property>
</Properties>
</file>